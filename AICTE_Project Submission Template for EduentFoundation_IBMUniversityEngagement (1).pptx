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5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Granite and </a:t>
            </a:r>
            <a:r>
              <a:rPr lang="en-US" b="1" i="1" dirty="0" err="1"/>
              <a:t>LangFlow</a:t>
            </a:r>
            <a:r>
              <a:rPr lang="en-US" b="1" i="1" dirty="0"/>
              <a: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725912127"/>
              </p:ext>
            </p:extLst>
          </p:nvPr>
        </p:nvGraphicFramePr>
        <p:xfrm>
          <a:off x="1280161" y="2743200"/>
          <a:ext cx="9930383" cy="3048000"/>
        </p:xfrm>
        <a:graphic>
          <a:graphicData uri="http://schemas.openxmlformats.org/drawingml/2006/table">
            <a:tbl>
              <a:tblPr>
                <a:noFill/>
                <a:tableStyleId>{F063BE5B-8E01-4B91-9C5C-8479B17E1E5F}</a:tableStyleId>
              </a:tblPr>
              <a:tblGrid>
                <a:gridCol w="2807207">
                  <a:extLst>
                    <a:ext uri="{9D8B030D-6E8A-4147-A177-3AD203B41FA5}">
                      <a16:colId xmlns:a16="http://schemas.microsoft.com/office/drawing/2014/main" val="20000"/>
                    </a:ext>
                  </a:extLst>
                </a:gridCol>
                <a:gridCol w="1856232">
                  <a:extLst>
                    <a:ext uri="{9D8B030D-6E8A-4147-A177-3AD203B41FA5}">
                      <a16:colId xmlns:a16="http://schemas.microsoft.com/office/drawing/2014/main" val="20001"/>
                    </a:ext>
                  </a:extLst>
                </a:gridCol>
                <a:gridCol w="3438144">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1122628">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Email ID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Mobile number</a:t>
                      </a:r>
                      <a:endParaRPr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[WhatsApp]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925372">
                <a:tc>
                  <a:txBody>
                    <a:bodyPr/>
                    <a:lstStyle/>
                    <a:p>
                      <a:pPr marL="0" marR="0" lvl="0" indent="0" algn="ctr" rtl="0">
                        <a:lnSpc>
                          <a:spcPct val="100000"/>
                        </a:lnSpc>
                        <a:spcBef>
                          <a:spcPts val="0"/>
                        </a:spcBef>
                        <a:spcAft>
                          <a:spcPts val="0"/>
                        </a:spcAft>
                        <a:buClr>
                          <a:srgbClr val="000000"/>
                        </a:buClr>
                        <a:buSzPts val="1400"/>
                        <a:buFont typeface="Arial"/>
                        <a:buNone/>
                      </a:pP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2" y="1698467"/>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Education</a:t>
            </a:r>
            <a:r>
              <a:rPr lang="en-US" sz="2400" b="1" i="0" u="none" strike="noStrike" cap="none" dirty="0">
                <a:solidFill>
                  <a:srgbClr val="000000"/>
                </a:solidFill>
                <a:highlight>
                  <a:srgbClr val="FFFF00"/>
                </a:highlight>
                <a:latin typeface="Arial"/>
                <a:ea typeface="Arial"/>
                <a:cs typeface="Arial"/>
                <a:sym typeface="Arial"/>
              </a:rPr>
              <a:t>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10050102" cy="830956"/>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IN" sz="2400" dirty="0"/>
              <a:t>EduEase AI Personalized Course Content Simplification Agent</a:t>
            </a:r>
            <a:endParaRPr sz="24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DA8FF696-840F-C094-2410-A167C685E9FF}"/>
              </a:ext>
            </a:extLst>
          </p:cNvPr>
          <p:cNvSpPr txBox="1"/>
          <p:nvPr/>
        </p:nvSpPr>
        <p:spPr>
          <a:xfrm>
            <a:off x="1473619" y="4602144"/>
            <a:ext cx="2587752" cy="369332"/>
          </a:xfrm>
          <a:prstGeom prst="rect">
            <a:avLst/>
          </a:prstGeom>
          <a:noFill/>
        </p:spPr>
        <p:txBody>
          <a:bodyPr wrap="square" rtlCol="0">
            <a:spAutoFit/>
          </a:bodyPr>
          <a:lstStyle/>
          <a:p>
            <a:r>
              <a:rPr lang="en-IN" sz="1800" b="1" dirty="0"/>
              <a:t>Kunal Rajesh Agrawal</a:t>
            </a:r>
          </a:p>
        </p:txBody>
      </p:sp>
      <p:sp>
        <p:nvSpPr>
          <p:cNvPr id="3" name="TextBox 2">
            <a:extLst>
              <a:ext uri="{FF2B5EF4-FFF2-40B4-BE49-F238E27FC236}">
                <a16:creationId xmlns:a16="http://schemas.microsoft.com/office/drawing/2014/main" id="{903B3D7C-F92D-F732-73DF-84A6B1CC330F}"/>
              </a:ext>
            </a:extLst>
          </p:cNvPr>
          <p:cNvSpPr txBox="1"/>
          <p:nvPr/>
        </p:nvSpPr>
        <p:spPr>
          <a:xfrm>
            <a:off x="6004559" y="4563044"/>
            <a:ext cx="3392424" cy="615553"/>
          </a:xfrm>
          <a:prstGeom prst="rect">
            <a:avLst/>
          </a:prstGeom>
          <a:noFill/>
        </p:spPr>
        <p:txBody>
          <a:bodyPr wrap="square" rtlCol="0">
            <a:spAutoFit/>
          </a:bodyPr>
          <a:lstStyle/>
          <a:p>
            <a:r>
              <a:rPr lang="en-IN" sz="1800" b="1" dirty="0"/>
              <a:t>agrawalkunal689@gmail.com</a:t>
            </a:r>
          </a:p>
          <a:p>
            <a:endParaRPr lang="en-IN" sz="1600" b="1" dirty="0"/>
          </a:p>
        </p:txBody>
      </p:sp>
      <p:sp>
        <p:nvSpPr>
          <p:cNvPr id="4" name="TextBox 3">
            <a:extLst>
              <a:ext uri="{FF2B5EF4-FFF2-40B4-BE49-F238E27FC236}">
                <a16:creationId xmlns:a16="http://schemas.microsoft.com/office/drawing/2014/main" id="{4F0D7E67-D12D-35DB-A143-E361CA223786}"/>
              </a:ext>
            </a:extLst>
          </p:cNvPr>
          <p:cNvSpPr txBox="1"/>
          <p:nvPr/>
        </p:nvSpPr>
        <p:spPr>
          <a:xfrm>
            <a:off x="9498966" y="4560637"/>
            <a:ext cx="1609595" cy="369332"/>
          </a:xfrm>
          <a:prstGeom prst="rect">
            <a:avLst/>
          </a:prstGeom>
          <a:noFill/>
        </p:spPr>
        <p:txBody>
          <a:bodyPr wrap="square" rtlCol="0">
            <a:spAutoFit/>
          </a:bodyPr>
          <a:lstStyle/>
          <a:p>
            <a:r>
              <a:rPr lang="en-IN" sz="1800" b="1" dirty="0"/>
              <a:t>7567492365</a:t>
            </a:r>
          </a:p>
        </p:txBody>
      </p:sp>
      <p:pic>
        <p:nvPicPr>
          <p:cNvPr id="8" name="Picture 7">
            <a:extLst>
              <a:ext uri="{FF2B5EF4-FFF2-40B4-BE49-F238E27FC236}">
                <a16:creationId xmlns:a16="http://schemas.microsoft.com/office/drawing/2014/main" id="{658084A4-6C28-742A-4815-2DCCF7EEA76C}"/>
              </a:ext>
            </a:extLst>
          </p:cNvPr>
          <p:cNvPicPr>
            <a:picLocks noChangeAspect="1"/>
          </p:cNvPicPr>
          <p:nvPr/>
        </p:nvPicPr>
        <p:blipFill>
          <a:blip r:embed="rId3"/>
          <a:srcRect/>
          <a:stretch/>
        </p:blipFill>
        <p:spPr>
          <a:xfrm>
            <a:off x="4369608" y="4071761"/>
            <a:ext cx="1242982" cy="15981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04444" y="1157654"/>
            <a:ext cx="11183112" cy="5509160"/>
          </a:xfrm>
          <a:prstGeom prst="rect">
            <a:avLst/>
          </a:prstGeom>
          <a:noFill/>
          <a:ln>
            <a:noFill/>
          </a:ln>
        </p:spPr>
        <p:txBody>
          <a:bodyPr spcFirstLastPara="1" wrap="square" lIns="91425" tIns="45700" rIns="91425" bIns="45700" anchor="t" anchorCtr="0">
            <a:spAutoFit/>
          </a:bodyPr>
          <a:lstStyle/>
          <a:p>
            <a:r>
              <a:rPr lang="en-IN" sz="1600" b="1" dirty="0"/>
              <a:t>Problem Statement – Course Content Simplification Agent</a:t>
            </a:r>
          </a:p>
          <a:p>
            <a:endParaRPr lang="en-IN" sz="1600" b="1" dirty="0"/>
          </a:p>
          <a:p>
            <a:r>
              <a:rPr lang="en-IN" sz="1600" b="1" dirty="0">
                <a:latin typeface="+mn-lt"/>
              </a:rPr>
              <a:t>The Challenge</a:t>
            </a:r>
          </a:p>
          <a:p>
            <a:r>
              <a:rPr lang="en-IN" sz="1600" dirty="0">
                <a:latin typeface="+mn-lt"/>
              </a:rPr>
              <a:t>Educational </a:t>
            </a:r>
            <a:r>
              <a:rPr lang="en-IN" sz="1600" dirty="0"/>
              <a:t>materials often vary in complexity and are not always accessible to learners with different levels of prior knowledge. Students may struggle to understand </a:t>
            </a:r>
            <a:r>
              <a:rPr lang="en-IN" sz="1600" b="1" dirty="0"/>
              <a:t>jargon-heavy faculty notes, textbooks, and study material</a:t>
            </a:r>
            <a:r>
              <a:rPr lang="en-IN" sz="1600" dirty="0"/>
              <a:t>, especially when explanations are too advanced or not tailored to their learning level. Without </a:t>
            </a:r>
            <a:r>
              <a:rPr lang="en-IN" sz="1600" b="1" dirty="0"/>
              <a:t>personalized academic support</a:t>
            </a:r>
            <a:r>
              <a:rPr lang="en-IN" sz="1600" dirty="0"/>
              <a:t>, many learners find it difficult to grasp key concepts, revise effectively, and prepare confidently for exams.</a:t>
            </a:r>
          </a:p>
          <a:p>
            <a:endParaRPr lang="en-IN" sz="1600" b="1" dirty="0"/>
          </a:p>
          <a:p>
            <a:r>
              <a:rPr lang="en-IN" sz="1600" b="1" dirty="0"/>
              <a:t>The Objective</a:t>
            </a:r>
          </a:p>
          <a:p>
            <a:r>
              <a:rPr lang="en-IN" sz="1600" dirty="0"/>
              <a:t>Build an </a:t>
            </a:r>
            <a:r>
              <a:rPr lang="en-IN" sz="1600" b="1" dirty="0"/>
              <a:t>AI-powered Course Content Simplification Agent</a:t>
            </a:r>
            <a:r>
              <a:rPr lang="en-IN" sz="1600" dirty="0"/>
              <a:t> that delivers </a:t>
            </a:r>
            <a:r>
              <a:rPr lang="en-IN" sz="1600" b="1" dirty="0"/>
              <a:t>personalized learning support</a:t>
            </a:r>
            <a:r>
              <a:rPr lang="en-IN" sz="1600" dirty="0"/>
              <a:t> for students by transforming difficult academic content into learner-friendly explanations and study resources. </a:t>
            </a:r>
          </a:p>
          <a:p>
            <a:endParaRPr lang="en-IN" sz="1600" dirty="0"/>
          </a:p>
          <a:p>
            <a:r>
              <a:rPr lang="en-IN" sz="1600" dirty="0"/>
              <a:t>The solution should:</a:t>
            </a:r>
          </a:p>
          <a:p>
            <a:r>
              <a:rPr lang="en-IN" sz="1600" b="1" dirty="0"/>
              <a:t>Learner-Level Simplification</a:t>
            </a:r>
            <a:r>
              <a:rPr lang="en-IN" sz="1600" dirty="0"/>
              <a:t> – Adapt academic content for </a:t>
            </a:r>
            <a:r>
              <a:rPr lang="en-IN" sz="1600" b="1" dirty="0"/>
              <a:t>Beginner, Intermediate, and Expert</a:t>
            </a:r>
            <a:r>
              <a:rPr lang="en-IN" sz="1600" dirty="0"/>
              <a:t> learners. </a:t>
            </a:r>
          </a:p>
          <a:p>
            <a:r>
              <a:rPr lang="en-IN" sz="1600" b="1" dirty="0"/>
              <a:t>Summary Generation</a:t>
            </a:r>
            <a:r>
              <a:rPr lang="en-IN" sz="1600" dirty="0"/>
              <a:t> – Produce concise summaries for quick revision and concept understanding. </a:t>
            </a:r>
          </a:p>
          <a:p>
            <a:r>
              <a:rPr lang="en-IN" sz="1600" b="1" dirty="0"/>
              <a:t>Assessment Support</a:t>
            </a:r>
            <a:r>
              <a:rPr lang="en-IN" sz="1600" dirty="0"/>
              <a:t> – Generate </a:t>
            </a:r>
            <a:r>
              <a:rPr lang="en-IN" sz="1600" b="1" dirty="0"/>
              <a:t>MCQs and exam questions</a:t>
            </a:r>
            <a:r>
              <a:rPr lang="en-IN" sz="1600" dirty="0"/>
              <a:t> from uploaded study material. </a:t>
            </a:r>
          </a:p>
          <a:p>
            <a:r>
              <a:rPr lang="en-IN" sz="1600" b="1" dirty="0"/>
              <a:t>Keyword Explanation</a:t>
            </a:r>
            <a:r>
              <a:rPr lang="en-IN" sz="1600" dirty="0"/>
              <a:t> – Identify and explain important academic terms in simple language. </a:t>
            </a:r>
          </a:p>
          <a:p>
            <a:r>
              <a:rPr lang="en-IN" sz="1600" b="1" dirty="0"/>
              <a:t>Question Answering</a:t>
            </a:r>
            <a:r>
              <a:rPr lang="en-IN" sz="1600" dirty="0"/>
              <a:t> – Allow students to ask doubts from the uploaded content and receive contextual answers. </a:t>
            </a:r>
          </a:p>
          <a:p>
            <a:r>
              <a:rPr lang="en-IN" sz="1600" b="1" dirty="0"/>
              <a:t>PDF/Text-Based Learning Support</a:t>
            </a:r>
            <a:r>
              <a:rPr lang="en-IN" sz="1600" dirty="0"/>
              <a:t> – Accept faculty notes, textbook content, or pasted text as input for analysis and transformation. </a:t>
            </a:r>
          </a:p>
          <a:p>
            <a:r>
              <a:rPr lang="en-IN" sz="1600" b="1" dirty="0"/>
              <a:t>Smart Academic Assistant</a:t>
            </a:r>
            <a:r>
              <a:rPr lang="en-IN" sz="1600" dirty="0"/>
              <a:t> – Act as a digital study companion for understanding, revision, and exam preparation.</a:t>
            </a: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02920" y="314434"/>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049784"/>
            <a:ext cx="10279588" cy="5693826"/>
          </a:xfrm>
          <a:prstGeom prst="rect">
            <a:avLst/>
          </a:prstGeom>
          <a:noFill/>
          <a:ln>
            <a:noFill/>
          </a:ln>
        </p:spPr>
        <p:txBody>
          <a:bodyPr spcFirstLastPara="1" wrap="square" lIns="91425" tIns="45700" rIns="91425" bIns="45700" anchor="t" anchorCtr="0">
            <a:spAutoFit/>
          </a:bodyPr>
          <a:lstStyle/>
          <a:p>
            <a:r>
              <a:rPr lang="en-IN" dirty="0"/>
              <a:t>The proposed solution is an </a:t>
            </a:r>
            <a:r>
              <a:rPr lang="en-IN" b="1" dirty="0"/>
              <a:t>AI-powered Course Content Simplification Agent</a:t>
            </a:r>
            <a:r>
              <a:rPr lang="en-IN" dirty="0"/>
              <a:t> built using </a:t>
            </a:r>
            <a:r>
              <a:rPr lang="en-IN" b="1" dirty="0"/>
              <a:t>IBM watsonx.ai, IBM Granite models, Python, and Streamlit</a:t>
            </a:r>
            <a:r>
              <a:rPr lang="en-IN" dirty="0"/>
              <a:t> to make academic content easier to understand for learners with different proficiency levels. The system addresses the challenge of complex, jargon-heavy educational material by transforming it into learner-friendly explanations and study resources.</a:t>
            </a:r>
          </a:p>
          <a:p>
            <a:r>
              <a:rPr lang="en-IN" dirty="0"/>
              <a:t>At its core, EduEase AI allows users to </a:t>
            </a:r>
            <a:r>
              <a:rPr lang="en-IN" b="1" dirty="0"/>
              <a:t>upload PDF notes or paste academic text</a:t>
            </a:r>
            <a:r>
              <a:rPr lang="en-IN" dirty="0"/>
              <a:t>, which is then processed by the system. Using </a:t>
            </a:r>
            <a:r>
              <a:rPr lang="en-IN" b="1" dirty="0"/>
              <a:t>IBM Granite models through watsonx.ai</a:t>
            </a:r>
            <a:r>
              <a:rPr lang="en-IN" dirty="0"/>
              <a:t>, the content is </a:t>
            </a:r>
            <a:r>
              <a:rPr lang="en-IN" dirty="0" err="1"/>
              <a:t>analyzed</a:t>
            </a:r>
            <a:r>
              <a:rPr lang="en-IN" dirty="0"/>
              <a:t> and converted into multiple educational outputs such as </a:t>
            </a:r>
            <a:r>
              <a:rPr lang="en-IN" b="1" dirty="0"/>
              <a:t>simplified explanations, summaries, MCQs, exam questions, keyword explanations, and answers to learner questions</a:t>
            </a:r>
            <a:r>
              <a:rPr lang="en-IN" dirty="0"/>
              <a:t>.</a:t>
            </a:r>
          </a:p>
          <a:p>
            <a:r>
              <a:rPr lang="en-IN" dirty="0"/>
              <a:t>The solution supports </a:t>
            </a:r>
            <a:r>
              <a:rPr lang="en-IN" b="1" dirty="0"/>
              <a:t>learner-level personalization</a:t>
            </a:r>
            <a:r>
              <a:rPr lang="en-IN" dirty="0"/>
              <a:t>, where the same academic content can be adapted for </a:t>
            </a:r>
            <a:r>
              <a:rPr lang="en-IN" b="1" dirty="0"/>
              <a:t>Beginner, Intermediate, or Expert</a:t>
            </a:r>
            <a:r>
              <a:rPr lang="en-IN" dirty="0"/>
              <a:t> learners. This ensures that students with different levels of prior knowledge can understand the same material in a way that matches their learning needs.</a:t>
            </a:r>
          </a:p>
          <a:p>
            <a:endParaRPr lang="en-IN" dirty="0"/>
          </a:p>
          <a:p>
            <a:r>
              <a:rPr lang="en-IN" dirty="0"/>
              <a:t>The system consists of multiple AI-driven functions:</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Ø"/>
            </a:pPr>
            <a:r>
              <a:rPr lang="en-IN" b="1" dirty="0"/>
              <a:t>Content Simplification Module</a:t>
            </a:r>
            <a:r>
              <a:rPr lang="en-IN" dirty="0"/>
              <a:t> – rewrites difficult academic text into learner-friendly language </a:t>
            </a:r>
          </a:p>
          <a:p>
            <a:pPr marL="285750" indent="-285750">
              <a:buFont typeface="Wingdings" panose="05000000000000000000" pitchFamily="2" charset="2"/>
              <a:buChar char="Ø"/>
            </a:pPr>
            <a:r>
              <a:rPr lang="en-IN" b="1" dirty="0"/>
              <a:t>Summary Module</a:t>
            </a:r>
            <a:r>
              <a:rPr lang="en-IN" dirty="0"/>
              <a:t> – generates concise bullet-point summaries for revision </a:t>
            </a:r>
          </a:p>
          <a:p>
            <a:pPr marL="285750" indent="-285750">
              <a:buFont typeface="Wingdings" panose="05000000000000000000" pitchFamily="2" charset="2"/>
              <a:buChar char="Ø"/>
            </a:pPr>
            <a:r>
              <a:rPr lang="en-IN" b="1" dirty="0"/>
              <a:t>Assessment Module</a:t>
            </a:r>
            <a:r>
              <a:rPr lang="en-IN" dirty="0"/>
              <a:t> – creates MCQs and important exam questions from the content </a:t>
            </a:r>
          </a:p>
          <a:p>
            <a:pPr marL="285750" indent="-285750">
              <a:buFont typeface="Wingdings" panose="05000000000000000000" pitchFamily="2" charset="2"/>
              <a:buChar char="Ø"/>
            </a:pPr>
            <a:r>
              <a:rPr lang="en-IN" b="1" dirty="0"/>
              <a:t>Keyword Explanation Module</a:t>
            </a:r>
            <a:r>
              <a:rPr lang="en-IN" dirty="0"/>
              <a:t> – identifies and explains important academic terms </a:t>
            </a:r>
          </a:p>
          <a:p>
            <a:pPr marL="285750" indent="-285750">
              <a:buFont typeface="Wingdings" panose="05000000000000000000" pitchFamily="2" charset="2"/>
              <a:buChar char="Ø"/>
            </a:pPr>
            <a:r>
              <a:rPr lang="en-IN" b="1" dirty="0"/>
              <a:t>Question Answering Module</a:t>
            </a:r>
            <a:r>
              <a:rPr lang="en-IN" dirty="0"/>
              <a:t> – answers student questions using the uploaded study material </a:t>
            </a:r>
          </a:p>
          <a:p>
            <a:endParaRPr lang="en-IN" dirty="0"/>
          </a:p>
          <a:p>
            <a:r>
              <a:rPr lang="en-IN" dirty="0"/>
              <a:t>The solution includes a </a:t>
            </a:r>
            <a:r>
              <a:rPr lang="en-IN" b="1" dirty="0"/>
              <a:t>user-friendly Streamlit interface</a:t>
            </a:r>
            <a:r>
              <a:rPr lang="en-IN" dirty="0"/>
              <a:t> where students can upload notes, choose learner level, and interact with the generated learning support.</a:t>
            </a:r>
          </a:p>
          <a:p>
            <a:r>
              <a:rPr lang="en-IN" dirty="0"/>
              <a:t>Overall, EduEase AI acts as a </a:t>
            </a:r>
            <a:r>
              <a:rPr lang="en-IN" b="1" dirty="0"/>
              <a:t>smart academic assistant</a:t>
            </a:r>
            <a:r>
              <a:rPr lang="en-IN" dirty="0"/>
              <a:t> that improves concept clarity, supports revision, and promotes personalized learning through IBM-powered AI.</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455468" y="329184"/>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850392" y="356616"/>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 :</a:t>
            </a:r>
            <a:endParaRPr sz="28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850392" y="1382306"/>
            <a:ext cx="10277856" cy="4093388"/>
          </a:xfrm>
          <a:prstGeom prst="rect">
            <a:avLst/>
          </a:prstGeom>
          <a:noFill/>
          <a:ln>
            <a:noFill/>
          </a:ln>
        </p:spPr>
        <p:txBody>
          <a:bodyPr spcFirstLastPara="1" wrap="square" lIns="91425" tIns="45700" rIns="91425" bIns="45700" anchor="t" anchorCtr="0">
            <a:spAutoFit/>
          </a:bodyPr>
          <a:lstStyle/>
          <a:p>
            <a:pPr marL="285750" lvl="0" indent="-285750">
              <a:buSzPts val="1800"/>
              <a:buFont typeface="Arial"/>
              <a:buChar char="•"/>
            </a:pPr>
            <a:r>
              <a:rPr lang="en-IN" sz="2000" b="1" dirty="0"/>
              <a:t>Streamlit</a:t>
            </a:r>
            <a:r>
              <a:rPr lang="en-IN" sz="2000" dirty="0"/>
              <a:t> – Used to build the interactive web interface for uploading PDFs, pasting academic content, selecting learner level, and displaying AI-generated outputs.</a:t>
            </a:r>
          </a:p>
          <a:p>
            <a:pPr marL="285750" lvl="0" indent="-285750">
              <a:buSzPts val="1800"/>
              <a:buFont typeface="Arial"/>
              <a:buChar char="•"/>
            </a:pPr>
            <a:r>
              <a:rPr lang="en-IN" sz="2000" b="1" dirty="0"/>
              <a:t>IBM Granite Model</a:t>
            </a:r>
            <a:r>
              <a:rPr lang="en-IN" sz="2000" dirty="0"/>
              <a:t> – </a:t>
            </a:r>
            <a:r>
              <a:rPr lang="en-IN" sz="2000" b="1" dirty="0"/>
              <a:t>Granite-3-3-8B-Instruct</a:t>
            </a:r>
            <a:r>
              <a:rPr lang="en-IN" sz="2000" dirty="0"/>
              <a:t> is used for academic content simplification, summarization, MCQ generation, exam question generation, keyword explanation, and question answering. </a:t>
            </a:r>
          </a:p>
          <a:p>
            <a:pPr marL="285750" lvl="0" indent="-285750">
              <a:buSzPts val="1800"/>
              <a:buFont typeface="Arial"/>
              <a:buChar char="•"/>
            </a:pPr>
            <a:r>
              <a:rPr lang="en-IN" sz="2000" b="1" dirty="0"/>
              <a:t>IBM watsonx.ai</a:t>
            </a:r>
            <a:r>
              <a:rPr lang="en-IN" sz="2000" dirty="0"/>
              <a:t> – Used for secure access to IBM Granite models, prompt-based inference, and AI-powered educational output generation. </a:t>
            </a:r>
          </a:p>
          <a:p>
            <a:pPr marL="285750" lvl="0" indent="-285750">
              <a:buSzPts val="1800"/>
              <a:buFont typeface="Arial"/>
              <a:buChar char="•"/>
            </a:pPr>
            <a:r>
              <a:rPr lang="en-IN" sz="2000" b="1" dirty="0"/>
              <a:t>IBM Cloud</a:t>
            </a:r>
            <a:r>
              <a:rPr lang="en-IN" sz="2000" dirty="0"/>
              <a:t> – Provides the cloud-based AI environment and infrastructure for integrating and scaling the EduEase AI solution. </a:t>
            </a:r>
          </a:p>
          <a:p>
            <a:pPr marL="285750" lvl="0" indent="-285750">
              <a:buSzPts val="1800"/>
              <a:buFont typeface="Arial"/>
              <a:buChar char="•"/>
            </a:pPr>
            <a:r>
              <a:rPr lang="en-IN" sz="2000" b="1" dirty="0" err="1"/>
              <a:t>PyMuPDF</a:t>
            </a:r>
            <a:r>
              <a:rPr lang="en-IN" sz="2000" b="1" dirty="0"/>
              <a:t> (</a:t>
            </a:r>
            <a:r>
              <a:rPr lang="en-IN" sz="2000" b="1" dirty="0" err="1"/>
              <a:t>fitz</a:t>
            </a:r>
            <a:r>
              <a:rPr lang="en-IN" sz="2000" b="1" dirty="0"/>
              <a:t>)</a:t>
            </a:r>
            <a:r>
              <a:rPr lang="en-IN" sz="2000" dirty="0"/>
              <a:t> – Used to extract text from uploaded PDF notes and academic documents. </a:t>
            </a:r>
          </a:p>
          <a:p>
            <a:pPr marL="285750" lvl="0" indent="-285750">
              <a:buSzPts val="1800"/>
              <a:buFont typeface="Arial"/>
              <a:buChar char="•"/>
            </a:pPr>
            <a:r>
              <a:rPr lang="en-IN" sz="2000" b="1" dirty="0"/>
              <a:t>Python + Requests + </a:t>
            </a:r>
            <a:r>
              <a:rPr lang="en-IN" sz="2000" b="1" dirty="0" err="1"/>
              <a:t>Dotenv</a:t>
            </a:r>
            <a:r>
              <a:rPr lang="en-IN" sz="2000" dirty="0"/>
              <a:t> – Used for backend logic, API integration with watsonx.ai, and secure environment variable management.</a:t>
            </a:r>
            <a:endParaRPr lang="en-US"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662166" y="268375"/>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rgbClr val="051D3A"/>
                </a:solidFill>
                <a:latin typeface="Times New Roman"/>
                <a:ea typeface="Times New Roman"/>
                <a:cs typeface="Times New Roman"/>
                <a:sym typeface="Times New Roman"/>
              </a:rPr>
              <a:t> </a:t>
            </a:r>
            <a:r>
              <a:rPr lang="en-US" sz="2800" b="1" dirty="0">
                <a:ea typeface="Times New Roman"/>
              </a:rPr>
              <a:t>C</a:t>
            </a:r>
            <a:r>
              <a:rPr lang="en-US" sz="2800" b="1" i="0" u="none" strike="noStrike" cap="none" dirty="0">
                <a:solidFill>
                  <a:srgbClr val="000000"/>
                </a:solidFill>
                <a:latin typeface="Arial"/>
                <a:ea typeface="Arial"/>
                <a:cs typeface="Arial"/>
                <a:sym typeface="Arial"/>
              </a:rPr>
              <a:t>omponent Used In Agent:</a:t>
            </a:r>
            <a:endParaRPr sz="28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896589" y="941044"/>
            <a:ext cx="10579608" cy="7463541"/>
          </a:xfrm>
          <a:prstGeom prst="rect">
            <a:avLst/>
          </a:prstGeom>
          <a:noFill/>
          <a:ln>
            <a:noFill/>
          </a:ln>
        </p:spPr>
        <p:txBody>
          <a:bodyPr spcFirstLastPara="1" wrap="square" lIns="91425" tIns="45700" rIns="91425" bIns="45700" anchor="t" anchorCtr="0">
            <a:spAutoFit/>
          </a:bodyPr>
          <a:lstStyle/>
          <a:p>
            <a:pPr>
              <a:lnSpc>
                <a:spcPct val="150000"/>
              </a:lnSpc>
            </a:pPr>
            <a:r>
              <a:rPr lang="en-IN" sz="2000" b="1" dirty="0"/>
              <a:t>1) Chat Input</a:t>
            </a:r>
            <a:r>
              <a:rPr lang="en-IN" sz="2000" dirty="0"/>
              <a:t> – Used to accept academic text, learner questions, or study content from the user.</a:t>
            </a:r>
          </a:p>
          <a:p>
            <a:pPr>
              <a:lnSpc>
                <a:spcPct val="150000"/>
              </a:lnSpc>
            </a:pPr>
            <a:r>
              <a:rPr lang="en-IN" sz="2000" b="1" dirty="0"/>
              <a:t>2) Prompt / Agent Flow</a:t>
            </a:r>
            <a:r>
              <a:rPr lang="en-IN" sz="2000" dirty="0"/>
              <a:t> – Processes the uploaded content and selected learner level to perform tasks like simplification, summarization, MCQ generation, and question answering.</a:t>
            </a:r>
          </a:p>
          <a:p>
            <a:pPr>
              <a:lnSpc>
                <a:spcPct val="150000"/>
              </a:lnSpc>
            </a:pPr>
            <a:r>
              <a:rPr lang="en-IN" sz="2000" b="1" dirty="0"/>
              <a:t>3) IBM watsonx.ai Agent</a:t>
            </a:r>
            <a:r>
              <a:rPr lang="en-IN" sz="2000" dirty="0"/>
              <a:t> – Connects with </a:t>
            </a:r>
            <a:r>
              <a:rPr lang="en-IN" sz="2000" b="1" dirty="0"/>
              <a:t>IBM Granite model</a:t>
            </a:r>
            <a:r>
              <a:rPr lang="en-IN" sz="2000" dirty="0"/>
              <a:t> to generate educational outputs from academic content.</a:t>
            </a:r>
          </a:p>
          <a:p>
            <a:pPr>
              <a:lnSpc>
                <a:spcPct val="150000"/>
              </a:lnSpc>
            </a:pPr>
            <a:r>
              <a:rPr lang="en-IN" sz="2000" b="1" dirty="0"/>
              <a:t>4) IBM Granite Model Used</a:t>
            </a:r>
            <a:r>
              <a:rPr lang="en-IN" sz="2000" dirty="0"/>
              <a:t> – </a:t>
            </a:r>
            <a:r>
              <a:rPr lang="en-IN" sz="2000" b="1" dirty="0"/>
              <a:t>Granite-3-3-8B-Instruct</a:t>
            </a:r>
            <a:r>
              <a:rPr lang="en-IN" sz="2000" dirty="0"/>
              <a:t> for content simplification, summaries, MCQs, exam questions, and doubt solving.</a:t>
            </a:r>
          </a:p>
          <a:p>
            <a:pPr>
              <a:lnSpc>
                <a:spcPct val="150000"/>
              </a:lnSpc>
            </a:pPr>
            <a:r>
              <a:rPr lang="en-IN" sz="2000" b="1" dirty="0"/>
              <a:t>5) Chat Output</a:t>
            </a:r>
            <a:r>
              <a:rPr lang="en-IN" sz="2000" dirty="0"/>
              <a:t> – Displays AI-generated outputs such as simplified explanations, summaries, MCQs, exam questions, keyword explanations, and answers.</a:t>
            </a:r>
          </a:p>
          <a:p>
            <a:pPr>
              <a:lnSpc>
                <a:spcPct val="150000"/>
              </a:lnSpc>
            </a:pPr>
            <a:r>
              <a:rPr lang="en-IN" sz="2000" b="1" dirty="0"/>
              <a:t>6) File / PDF Input Component</a:t>
            </a:r>
            <a:r>
              <a:rPr lang="en-IN" sz="2000" dirty="0"/>
              <a:t> – Used to upload and extract academic content from PDF notes for further processing by the AI agent.</a:t>
            </a:r>
          </a:p>
          <a:p>
            <a:pPr marL="342900" marR="0" lvl="0" indent="-254000" algn="l" rtl="0">
              <a:lnSpc>
                <a:spcPct val="150000"/>
              </a:lnSpc>
              <a:spcBef>
                <a:spcPts val="0"/>
              </a:spcBef>
              <a:spcAft>
                <a:spcPts val="0"/>
              </a:spcAft>
              <a:buClr>
                <a:srgbClr val="000000"/>
              </a:buClr>
              <a:buSzPts val="1400"/>
              <a:buFont typeface="Arial"/>
              <a:buNone/>
            </a:pPr>
            <a:endParaRPr lang="en-IN"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EduEase AI - Agentic</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workflow :</a:t>
            </a:r>
            <a:endParaRPr sz="2800" b="1" i="0" u="none" strike="noStrike" cap="none" dirty="0">
              <a:solidFill>
                <a:srgbClr val="000000"/>
              </a:solidFill>
              <a:latin typeface="Arial"/>
              <a:ea typeface="Arial"/>
              <a:cs typeface="Arial"/>
              <a:sym typeface="Arial"/>
            </a:endParaRPr>
          </a:p>
        </p:txBody>
      </p:sp>
      <p:pic>
        <p:nvPicPr>
          <p:cNvPr id="10" name="Picture 9">
            <a:extLst>
              <a:ext uri="{FF2B5EF4-FFF2-40B4-BE49-F238E27FC236}">
                <a16:creationId xmlns:a16="http://schemas.microsoft.com/office/drawing/2014/main" id="{17402615-29F4-4E32-A730-E8436430061C}"/>
              </a:ext>
            </a:extLst>
          </p:cNvPr>
          <p:cNvPicPr>
            <a:picLocks noChangeAspect="1"/>
          </p:cNvPicPr>
          <p:nvPr/>
        </p:nvPicPr>
        <p:blipFill>
          <a:blip r:embed="rId3"/>
          <a:srcRect t="8897"/>
          <a:stretch>
            <a:fillRect/>
          </a:stretch>
        </p:blipFill>
        <p:spPr>
          <a:xfrm>
            <a:off x="878204" y="1704364"/>
            <a:ext cx="10182446" cy="51536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i="0" u="none" strike="noStrike" cap="none" dirty="0">
                <a:solidFill>
                  <a:schemeClr val="dk1"/>
                </a:solidFill>
                <a:latin typeface="Calibri"/>
                <a:ea typeface="Calibri"/>
                <a:cs typeface="Calibri"/>
                <a:sym typeface="Calibri"/>
              </a:rPr>
              <a:t>System Architecture :</a:t>
            </a:r>
            <a:endParaRPr sz="2800" b="0" i="0" u="none" strike="noStrike" cap="none" dirty="0">
              <a:solidFill>
                <a:srgbClr val="000000"/>
              </a:solidFill>
              <a:latin typeface="Arial"/>
              <a:ea typeface="Arial"/>
              <a:cs typeface="Arial"/>
              <a:sym typeface="Arial"/>
            </a:endParaRPr>
          </a:p>
        </p:txBody>
      </p:sp>
      <p:pic>
        <p:nvPicPr>
          <p:cNvPr id="10" name="Picture 9">
            <a:extLst>
              <a:ext uri="{FF2B5EF4-FFF2-40B4-BE49-F238E27FC236}">
                <a16:creationId xmlns:a16="http://schemas.microsoft.com/office/drawing/2014/main" id="{41608ABD-5CE5-7A7A-0603-25B043335EA1}"/>
              </a:ext>
            </a:extLst>
          </p:cNvPr>
          <p:cNvPicPr>
            <a:picLocks noChangeAspect="1"/>
          </p:cNvPicPr>
          <p:nvPr/>
        </p:nvPicPr>
        <p:blipFill>
          <a:blip r:embed="rId3"/>
          <a:srcRect t="6151"/>
          <a:stretch>
            <a:fillRect/>
          </a:stretch>
        </p:blipFill>
        <p:spPr>
          <a:xfrm>
            <a:off x="1469231" y="886436"/>
            <a:ext cx="9253538" cy="57895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7891693" y="729972"/>
            <a:ext cx="3824819" cy="5398055"/>
          </a:xfrm>
          <a:prstGeom prst="rect">
            <a:avLst/>
          </a:prstGeom>
          <a:noFill/>
          <a:ln>
            <a:noFill/>
          </a:ln>
        </p:spPr>
      </p:pic>
      <p:sp>
        <p:nvSpPr>
          <p:cNvPr id="138" name="Google Shape;138;p9"/>
          <p:cNvSpPr txBox="1"/>
          <p:nvPr/>
        </p:nvSpPr>
        <p:spPr>
          <a:xfrm>
            <a:off x="475488" y="283464"/>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 </a:t>
            </a:r>
          </a:p>
        </p:txBody>
      </p:sp>
      <p:sp>
        <p:nvSpPr>
          <p:cNvPr id="139" name="Google Shape;139;p9"/>
          <p:cNvSpPr txBox="1"/>
          <p:nvPr/>
        </p:nvSpPr>
        <p:spPr>
          <a:xfrm>
            <a:off x="475488" y="1167493"/>
            <a:ext cx="6969021" cy="4093388"/>
          </a:xfrm>
          <a:prstGeom prst="rect">
            <a:avLst/>
          </a:prstGeom>
          <a:noFill/>
          <a:ln>
            <a:noFill/>
          </a:ln>
        </p:spPr>
        <p:txBody>
          <a:bodyPr spcFirstLastPara="1" wrap="square" lIns="91425" tIns="45700" rIns="91425" bIns="45700" anchor="t" anchorCtr="0">
            <a:spAutoFit/>
          </a:bodyPr>
          <a:lstStyle/>
          <a:p>
            <a:r>
              <a:rPr lang="en-IN" sz="2000" b="1" dirty="0"/>
              <a:t>Role of Agentic AI in the Solution</a:t>
            </a:r>
          </a:p>
          <a:p>
            <a:endParaRPr lang="en-IN" sz="2000" b="1" dirty="0"/>
          </a:p>
          <a:p>
            <a:r>
              <a:rPr lang="en-IN" sz="2000" dirty="0"/>
              <a:t>Agentic AI enables </a:t>
            </a:r>
            <a:r>
              <a:rPr lang="en-IN" sz="2000" b="1" dirty="0"/>
              <a:t>EduEase AI</a:t>
            </a:r>
            <a:r>
              <a:rPr lang="en-IN" sz="2000" dirty="0"/>
              <a:t> to act as an intelligent academic assistant instead of a basic chatbot. Using </a:t>
            </a:r>
            <a:r>
              <a:rPr lang="en-IN" sz="2000" b="1" dirty="0"/>
              <a:t>IBM watsonx.ai and Granite models</a:t>
            </a:r>
            <a:r>
              <a:rPr lang="en-IN" sz="2000" dirty="0"/>
              <a:t>, it performs multiple tasks such as </a:t>
            </a:r>
            <a:r>
              <a:rPr lang="en-IN" sz="2000" b="1" dirty="0"/>
              <a:t>content simplification, summarization, MCQ generation, exam question generation, keyword explanation, and question answering</a:t>
            </a:r>
            <a:r>
              <a:rPr lang="en-IN" sz="2000" dirty="0"/>
              <a:t>.</a:t>
            </a:r>
          </a:p>
          <a:p>
            <a:r>
              <a:rPr lang="en-IN" sz="2000" dirty="0"/>
              <a:t>It also adds </a:t>
            </a:r>
            <a:r>
              <a:rPr lang="en-IN" sz="2000" b="1" dirty="0"/>
              <a:t>personalization</a:t>
            </a:r>
            <a:r>
              <a:rPr lang="en-IN" sz="2000" dirty="0"/>
              <a:t> by adapting explanations according to the learner’s level — </a:t>
            </a:r>
            <a:r>
              <a:rPr lang="en-IN" sz="2000" b="1" dirty="0"/>
              <a:t>Beginner, Intermediate, or Expert</a:t>
            </a:r>
            <a:r>
              <a:rPr lang="en-IN" sz="2000" dirty="0"/>
              <a:t>. This makes the system more interactive, task-oriented, and useful for understanding and revising academic content.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75488"/>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 :</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11219688" cy="5016718"/>
          </a:xfrm>
          <a:prstGeom prst="rect">
            <a:avLst/>
          </a:prstGeom>
          <a:noFill/>
          <a:ln>
            <a:noFill/>
          </a:ln>
        </p:spPr>
        <p:txBody>
          <a:bodyPr spcFirstLastPara="1" wrap="square" lIns="91425" tIns="45700" rIns="91425" bIns="45700" anchor="t" anchorCtr="0">
            <a:spAutoFit/>
          </a:bodyPr>
          <a:lstStyle/>
          <a:p>
            <a:pPr lvl="0"/>
            <a:r>
              <a:rPr lang="en-IN" sz="2000" b="1" dirty="0"/>
              <a:t>Multi-Agent Academic Support</a:t>
            </a:r>
            <a:r>
              <a:rPr lang="en-IN" sz="2000" dirty="0"/>
              <a:t> – EduEase AI uses multiple AI functions such as content simplification, summarization, MCQ generation, exam question generation, keyword explanation, and doubt solving instead of acting like a basic single chatbot. </a:t>
            </a:r>
          </a:p>
          <a:p>
            <a:pPr lvl="0"/>
            <a:r>
              <a:rPr lang="en-IN" sz="2000" b="1" dirty="0"/>
              <a:t>Learner-Level Personalization</a:t>
            </a:r>
            <a:r>
              <a:rPr lang="en-IN" sz="2000" dirty="0"/>
              <a:t> – The system adapts academic content for Beginner, Intermediate, and Expert learners, making difficult study material easier to understand. </a:t>
            </a:r>
          </a:p>
          <a:p>
            <a:pPr lvl="0"/>
            <a:r>
              <a:rPr lang="en-IN" sz="2000" b="1" dirty="0"/>
              <a:t>IBM Granite-Powered Intelligence</a:t>
            </a:r>
            <a:r>
              <a:rPr lang="en-IN" sz="2000" dirty="0"/>
              <a:t> – Built using IBM watsonx.ai and Granite models to generate reliable educational outputs from uploaded notes and text. </a:t>
            </a:r>
          </a:p>
          <a:p>
            <a:pPr lvl="0"/>
            <a:r>
              <a:rPr lang="en-IN" sz="2000" b="1" dirty="0"/>
              <a:t>Interactive Learning Experience</a:t>
            </a:r>
            <a:r>
              <a:rPr lang="en-IN" sz="2000" dirty="0"/>
              <a:t> – Students can not only simplify content but also ask questions, generate quizzes, and prepare exam questions from the same study material. </a:t>
            </a:r>
          </a:p>
          <a:p>
            <a:pPr lvl="0"/>
            <a:r>
              <a:rPr lang="en-IN" sz="2000" b="1" dirty="0"/>
              <a:t>Transforms Content into Learning Resources</a:t>
            </a:r>
            <a:r>
              <a:rPr lang="en-IN" sz="2000" dirty="0"/>
              <a:t> – Converts raw academic notes into student-friendly explanations, summaries, MCQs, keywords, and revision material. </a:t>
            </a:r>
          </a:p>
          <a:p>
            <a:pPr lvl="0"/>
            <a:r>
              <a:rPr lang="en-IN" sz="2000" b="1" dirty="0"/>
              <a:t>Scalable and Deployment-Ready</a:t>
            </a:r>
            <a:r>
              <a:rPr lang="en-IN" sz="2000" dirty="0"/>
              <a:t> – Designed on IBM Cloud technologies, making it suitable for future expansion in personalized education platforms and smart learning systems.</a:t>
            </a: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lang="en-US" sz="2000" b="0" i="0" u="none" strike="noStrike" cap="none" dirty="0">
              <a:solidFill>
                <a:srgbClr val="000000"/>
              </a:solidFill>
              <a:latin typeface="Arial"/>
              <a:ea typeface="Arial"/>
              <a:cs typeface="Arial"/>
              <a:sym typeface="Arial"/>
            </a:endParaRPr>
          </a:p>
          <a:p>
            <a:pPr lvl="0"/>
            <a:r>
              <a:rPr lang="en-IN" sz="2000" dirty="0"/>
              <a:t>EduEase AI is not just a content simplifier, but a smart academic learning assistant that personalizes, explains, and transforms study material into effective learning support.</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Git Hub Link :</a:t>
            </a:r>
            <a:endParaRPr sz="2800" b="1" i="0" u="none" strike="noStrike" cap="none" dirty="0">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b="0" i="0" u="none" strike="noStrike" cap="none" dirty="0" err="1">
                <a:solidFill>
                  <a:srgbClr val="2B3541"/>
                </a:solidFill>
                <a:latin typeface="Times New Roman"/>
                <a:ea typeface="Times New Roman"/>
                <a:cs typeface="Times New Roman"/>
                <a:sym typeface="Times New Roman"/>
              </a:rPr>
              <a:t>app.json</a:t>
            </a:r>
            <a:r>
              <a:rPr lang="en-US" sz="1850" b="0" i="0" u="none" strike="noStrike" cap="none"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1218724" y="1386307"/>
            <a:ext cx="10074116" cy="4592022"/>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1. </a:t>
            </a:r>
            <a:r>
              <a:rPr lang="en-IN" sz="2000" b="1" dirty="0"/>
              <a:t>Multilingual and Voice-Based Learning Support </a:t>
            </a:r>
            <a:r>
              <a:rPr lang="en-US" sz="1850" b="1" i="0" u="none" strike="noStrike" cap="none" dirty="0">
                <a:solidFill>
                  <a:srgbClr val="2B3541"/>
                </a:solidFill>
                <a:latin typeface="Times New Roman"/>
                <a:ea typeface="Times New Roman"/>
                <a:cs typeface="Times New Roman"/>
                <a:sym typeface="Times New Roman"/>
              </a:rPr>
              <a:t>– </a:t>
            </a:r>
            <a:endParaRPr dirty="0"/>
          </a:p>
          <a:p>
            <a:pPr marL="0" marR="0" lvl="0" indent="0" algn="l" rtl="0">
              <a:spcBef>
                <a:spcPts val="0"/>
              </a:spcBef>
              <a:spcAft>
                <a:spcPts val="0"/>
              </a:spcAft>
              <a:buClr>
                <a:srgbClr val="2B3541"/>
              </a:buClr>
              <a:buSzPts val="1850"/>
              <a:buFont typeface="Times New Roman"/>
              <a:buNone/>
            </a:pPr>
            <a:r>
              <a:rPr lang="en-US" sz="1850" b="0" i="0" u="none" strike="noStrike" cap="none" dirty="0">
                <a:solidFill>
                  <a:srgbClr val="2B3541"/>
                </a:solidFill>
                <a:latin typeface="+mn-lt"/>
                <a:ea typeface="Times New Roman"/>
                <a:cs typeface="Times New Roman"/>
                <a:sym typeface="Times New Roman"/>
              </a:rPr>
              <a:t>The system can be enhanced with voice interaction and multilingual support so that students can learn and ask questions in their preferred language. This will improve accessibility and make the platform more inclusive for diverse learners</a:t>
            </a:r>
          </a:p>
          <a:p>
            <a:pPr marL="0" marR="0" lvl="0" indent="0" algn="l" rtl="0">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2.</a:t>
            </a:r>
            <a:r>
              <a:rPr lang="en-IN" sz="2000" dirty="0"/>
              <a:t> </a:t>
            </a:r>
            <a:r>
              <a:rPr lang="en-IN" sz="2000" b="1" dirty="0"/>
              <a:t>Advanced Personalization and Smart Learning Features </a:t>
            </a:r>
            <a:r>
              <a:rPr lang="en-US" sz="1850" b="0" i="0" u="none" strike="noStrike" cap="none" dirty="0">
                <a:solidFill>
                  <a:srgbClr val="2B3541"/>
                </a:solidFill>
                <a:latin typeface="Times New Roman"/>
                <a:ea typeface="Times New Roman"/>
                <a:cs typeface="Times New Roman"/>
                <a:sym typeface="Times New Roman"/>
              </a:rPr>
              <a:t>– </a:t>
            </a:r>
            <a:endParaRPr dirty="0"/>
          </a:p>
          <a:p>
            <a:pPr marL="0" marR="0" lvl="0" indent="0" algn="l" rtl="0">
              <a:spcBef>
                <a:spcPts val="0"/>
              </a:spcBef>
              <a:spcAft>
                <a:spcPts val="0"/>
              </a:spcAft>
              <a:buClr>
                <a:srgbClr val="2B3541"/>
              </a:buClr>
              <a:buSzPts val="1850"/>
              <a:buFont typeface="Times New Roman"/>
              <a:buNone/>
            </a:pPr>
            <a:r>
              <a:rPr lang="en-US" sz="2000" b="0" i="0" u="none" strike="noStrike" cap="none" dirty="0">
                <a:solidFill>
                  <a:srgbClr val="2B3541"/>
                </a:solidFill>
                <a:latin typeface="+mn-lt"/>
                <a:ea typeface="Times New Roman"/>
                <a:cs typeface="Times New Roman"/>
                <a:sym typeface="Times New Roman"/>
              </a:rPr>
              <a:t>In future, EduEase AI can be upgraded with student progress tracking, adaptive learning paths, and topic-wise recommendations based on learner performance and understanding level. This will make the system more intelligent, personalized, and useful for long-term academic support.</a:t>
            </a:r>
            <a:endParaRPr sz="2000" b="0" i="0" u="none" strike="noStrike" cap="none" dirty="0">
              <a:solidFill>
                <a:srgbClr val="000000"/>
              </a:solidFill>
              <a:latin typeface="+mn-lt"/>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549622" y="355162"/>
            <a:ext cx="609600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 :</a:t>
            </a:r>
            <a:endParaRPr sz="2800" dirty="0"/>
          </a:p>
          <a:p>
            <a:pPr marL="0" marR="0" lvl="0" indent="0" algn="ctr"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B1A568ED-633B-5BBE-F3A8-DAD574EADEF3}"/>
              </a:ext>
            </a:extLst>
          </p:cNvPr>
          <p:cNvPicPr>
            <a:picLocks noChangeAspect="1"/>
          </p:cNvPicPr>
          <p:nvPr/>
        </p:nvPicPr>
        <p:blipFill>
          <a:blip r:embed="rId3"/>
          <a:srcRect t="9246" b="9246"/>
          <a:stretch/>
        </p:blipFill>
        <p:spPr>
          <a:xfrm>
            <a:off x="1956816" y="1118659"/>
            <a:ext cx="8992400" cy="53841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44"/>
          <p:cNvPicPr preferRelativeResize="0"/>
          <p:nvPr/>
        </p:nvPicPr>
        <p:blipFill>
          <a:blip r:embed="rId3">
            <a:alphaModFix/>
          </a:blip>
          <a:srcRect t="8003" b="8003"/>
          <a:stretch/>
        </p:blipFill>
        <p:spPr>
          <a:xfrm>
            <a:off x="2069432" y="1307592"/>
            <a:ext cx="7760368" cy="5301317"/>
          </a:xfrm>
          <a:prstGeom prst="rect">
            <a:avLst/>
          </a:prstGeom>
          <a:noFill/>
          <a:ln>
            <a:noFill/>
          </a:ln>
        </p:spPr>
      </p:pic>
      <p:sp>
        <p:nvSpPr>
          <p:cNvPr id="189" name="Google Shape;189;p44"/>
          <p:cNvSpPr txBox="1"/>
          <p:nvPr/>
        </p:nvSpPr>
        <p:spPr>
          <a:xfrm>
            <a:off x="468759" y="233932"/>
            <a:ext cx="609600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 :</a:t>
            </a:r>
            <a:r>
              <a:rPr lang="en-US" sz="2800" b="0" i="0" u="none" strike="noStrike" cap="none" dirty="0">
                <a:solidFill>
                  <a:srgbClr val="000000"/>
                </a:solidFill>
                <a:latin typeface="Arial"/>
                <a:ea typeface="Arial"/>
                <a:cs typeface="Arial"/>
                <a:sym typeface="Arial"/>
              </a:rPr>
              <a:t>​</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0C821BC2-9320-14CB-7FAE-4F8F4E78C91D}"/>
              </a:ext>
            </a:extLst>
          </p:cNvPr>
          <p:cNvPicPr>
            <a:picLocks noChangeAspect="1"/>
          </p:cNvPicPr>
          <p:nvPr/>
        </p:nvPicPr>
        <p:blipFill>
          <a:blip r:embed="rId4"/>
          <a:srcRect r="6078" b="17474"/>
          <a:stretch>
            <a:fillRect/>
          </a:stretch>
        </p:blipFill>
        <p:spPr>
          <a:xfrm>
            <a:off x="1880892" y="1068406"/>
            <a:ext cx="8822400" cy="55565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1360</Words>
  <Application>Microsoft Office PowerPoint</Application>
  <PresentationFormat>Widescreen</PresentationFormat>
  <Paragraphs>97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agrawalkunal689@outlook.com</cp:lastModifiedBy>
  <cp:revision>8</cp:revision>
  <dcterms:created xsi:type="dcterms:W3CDTF">2025-07-08T05:06:56Z</dcterms:created>
  <dcterms:modified xsi:type="dcterms:W3CDTF">2026-07-10T10:32:16Z</dcterms:modified>
</cp:coreProperties>
</file>